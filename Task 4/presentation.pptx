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412" y="4493865"/>
            <a:ext cx="7115175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3687" y="4646265"/>
            <a:ext cx="1181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Inter"/>
              </a:rPr>
              <a:t>Presented By: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2775" y="1859309"/>
            <a:ext cx="58864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284C7"/>
                </a:solidFill>
                <a:latin typeface="Inter"/>
              </a:rPr>
              <a:t>DATA STORYTELLING &amp; STATISTICAL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0569" y="2297459"/>
            <a:ext cx="6890861" cy="157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09"/>
              </a:lnSpc>
            </a:pPr>
            <a:r>
              <a:rPr sz="5400" b="1" i="0" u="none">
                <a:solidFill>
                  <a:srgbClr val="0F172A"/>
                </a:solidFill>
                <a:latin typeface="Outfit"/>
              </a:rPr>
              <a:t>Sales Performance &amp;</a:t>
            </a:r>
            <a:r>
              <a:t>
</a:t>
            </a:r>
            <a:r>
              <a:rPr sz="5400" b="1" i="0" u="none">
                <a:solidFill>
                  <a:srgbClr val="0F172A"/>
                </a:solidFill>
                <a:latin typeface="Outfit"/>
              </a:rPr>
              <a:t> Customer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0" y="2355056"/>
            <a:ext cx="559069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Outfit"/>
              </a:rPr>
              <a:t>Our 4-Step Analytical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859881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Task 1: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Data Preparation and meticulous cleaning of 1,000 transaction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517106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Task 2: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Exploratory Data Analysis (EDA) and sales pattern visualization.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4174331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Task 3: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Interactive Dashboard development for dynamic business tracking.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4831556"/>
            <a:ext cx="4943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Task 4: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Data Storytelling and rigorous Statistical Validation.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83693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540918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198143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855368"/>
            <a:ext cx="2095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The Analytical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527" y="1428750"/>
            <a:ext cx="4924874" cy="453972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71675"/>
            <a:ext cx="5348287" cy="3657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971675"/>
            <a:ext cx="2578893" cy="1733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418" y="1971675"/>
            <a:ext cx="2578893" cy="1733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895725"/>
            <a:ext cx="2578893" cy="1733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418" y="3895725"/>
            <a:ext cx="2578893" cy="1733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7962" y="2266950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Demographics &amp; Key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2695575"/>
            <a:ext cx="475773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Average Customer Age: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41.4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100387"/>
            <a:ext cx="475773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Gender Split: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51.1% Male  |  48.9% Female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3505200"/>
            <a:ext cx="475773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Top Revenue City: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Kolkata (Rs. 19.52M)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3910012"/>
            <a:ext cx="475773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Peak Sales Month: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March (Rs. 13.06M)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4314825"/>
            <a:ext cx="475773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Key Correlations: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Strong positive link between Sales and Quantity (r=0.65) / Price (r=0.69).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2247900"/>
            <a:ext cx="2083593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Inter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2790825"/>
            <a:ext cx="1143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 SemiBold"/>
              </a:rPr>
              <a:t>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8068" y="2247900"/>
            <a:ext cx="2083593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Inter"/>
              </a:rPr>
              <a:t>Rs. 139.4M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068" y="3276600"/>
            <a:ext cx="11811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 SemiBold"/>
              </a:rPr>
              <a:t>TOTAL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4171950"/>
            <a:ext cx="2083593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Inter"/>
              </a:rPr>
              <a:t>Rs. 139,399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5" y="5200650"/>
            <a:ext cx="1381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 SemiBold"/>
              </a:rPr>
              <a:t>AVG 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8068" y="4171950"/>
            <a:ext cx="2083593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284C7"/>
                </a:solidFill>
                <a:latin typeface="Inter"/>
              </a:rPr>
              <a:t>8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8068" y="4714875"/>
            <a:ext cx="1438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Inter SemiBold"/>
              </a:rPr>
              <a:t>MARKET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Overview of the 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28725"/>
            <a:ext cx="1102995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Revenue Distribution by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90787"/>
            <a:ext cx="5324475" cy="2619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347912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Observed Average Transaction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48225"/>
            <a:ext cx="5324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Maximum Observed Spread: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Rs. 18,152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037" y="2843212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23434" y="3519487"/>
            <a:ext cx="485060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Outfit"/>
              </a:rPr>
              <a:t>The Statistical Inquiry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995737"/>
            <a:ext cx="4619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Are these variations </a:t>
            </a:r>
            <a:r>
              <a:rPr sz="1500" b="1" i="0" u="none">
                <a:solidFill>
                  <a:srgbClr val="0369A1"/>
                </a:solidFill>
                <a:latin typeface="Inter"/>
              </a:rPr>
              <a:t>statistically significant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across product lines, or simply random sampling noise?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776537"/>
            <a:ext cx="4943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Grocery: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Rs. 145,305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190875"/>
            <a:ext cx="4943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Electronics: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Rs. 143,442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605212"/>
            <a:ext cx="4943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Education: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Rs. 140,627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019550"/>
            <a:ext cx="4943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Furniture: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Rs. 135,356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433887"/>
            <a:ext cx="4943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Fashion: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Rs. 127,153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Beyond the Surface: The Value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87" y="2109787"/>
            <a:ext cx="581025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05663" y="2814637"/>
            <a:ext cx="5380672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Outfit"/>
              </a:rPr>
              <a:t>Statistical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9750" y="3824287"/>
            <a:ext cx="9525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2250" y="4062412"/>
            <a:ext cx="6667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Testing the Business Hypothesis with Rigorous Statistical ANOVA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76475"/>
            <a:ext cx="351785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276475"/>
            <a:ext cx="351785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276475"/>
            <a:ext cx="3517999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238625"/>
            <a:ext cx="2965400" cy="5302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162300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Null (H₀)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590925"/>
            <a:ext cx="296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Average sales are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equal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across all product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3225" y="3162300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Alternative (H₁)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590925"/>
            <a:ext cx="296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At least one category has a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different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average sales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9200" y="3162300"/>
            <a:ext cx="311382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200" y="3590925"/>
            <a:ext cx="296554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Test Type: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Welch's ANOVA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9200" y="3995737"/>
            <a:ext cx="2965549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Significance Level: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α =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4400550"/>
            <a:ext cx="29655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Selected to handle potential variance differences across groups.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619375"/>
            <a:ext cx="31432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4467225"/>
            <a:ext cx="1504503" cy="149274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25" y="2619375"/>
            <a:ext cx="314325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9200" y="2619375"/>
            <a:ext cx="314325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Hypothesis Formulation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00275"/>
            <a:ext cx="5324475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4648200"/>
            <a:ext cx="4772025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2725" y="2476500"/>
            <a:ext cx="501062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Key Output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62725" y="2886075"/>
          <a:ext cx="4772024" cy="15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6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Levene’s Test (Variance)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P = 0.4182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F-Statistic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0.7842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668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Degrees of Freedom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(4.0, 429.6)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7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Final P-Value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1" i="0" u="none">
                          <a:solidFill>
                            <a:srgbClr val="0284C7"/>
                          </a:solidFill>
                          <a:latin typeface="Inter"/>
                        </a:rPr>
                        <a:t>0.5359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15125" y="4772025"/>
            <a:ext cx="4467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369A1"/>
                </a:solidFill>
                <a:latin typeface="Inter"/>
              </a:rPr>
              <a:t>Decision:</a:t>
            </a:r>
            <a:r>
              <a:rPr sz="1200" b="0" i="0" u="none">
                <a:solidFill>
                  <a:srgbClr val="991B1B"/>
                </a:solidFill>
                <a:latin typeface="Inter"/>
              </a:rPr>
              <a:t> 0.5359 &gt; 0.05. </a:t>
            </a:r>
            <a:r>
              <a:rPr sz="1200" b="1" i="0" u="none">
                <a:solidFill>
                  <a:srgbClr val="0369A1"/>
                </a:solidFill>
                <a:latin typeface="Inter"/>
              </a:rPr>
              <a:t>Fail to Reject H₀.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Test Results &amp; ANOVA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1905000"/>
            <a:ext cx="521017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88543"/>
            <a:ext cx="5372100" cy="1900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588543"/>
            <a:ext cx="5372100" cy="1900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21718"/>
            <a:ext cx="11029950" cy="1028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3893343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No Statistical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321968"/>
            <a:ext cx="4819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We do not have sufficient statistical evidence to claim that "Grocery" orders are inherently higher value than "Fashion" 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893343"/>
            <a:ext cx="50606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utfit"/>
              </a:rPr>
              <a:t>Sample Sensitivity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4321968"/>
            <a:ext cx="4819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The observed mean range (Rs. 127K to 145K) is mathematically expected even if all categories shared the exact same population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Interpretation: The Reality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781175"/>
            <a:ext cx="4943475" cy="2724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2475" y="581025"/>
            <a:ext cx="50106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The Real Driver:</a:t>
            </a:r>
            <a:r>
              <a:t>
</a:t>
            </a:r>
            <a:r>
              <a:rPr sz="2850" b="1" i="0" u="none">
                <a:solidFill>
                  <a:srgbClr val="0F172A"/>
                </a:solidFill>
                <a:latin typeface="Outfit"/>
              </a:rPr>
              <a:t> Volume vs.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581025"/>
            <a:ext cx="57150" cy="914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6775" y="2028825"/>
            <a:ext cx="46305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Outfit"/>
              </a:rPr>
              <a:t>Volume is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476500"/>
            <a:ext cx="44100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Electronics dominates total revenue (Rs. 50.78M) because it commands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35.4% of total orders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(354 transactions).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367087"/>
            <a:ext cx="44100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Revenue leadership is </a:t>
            </a:r>
            <a:r>
              <a:rPr sz="1275" b="1" i="0" u="none">
                <a:solidFill>
                  <a:srgbClr val="0369A1"/>
                </a:solidFill>
                <a:latin typeface="Inter"/>
              </a:rPr>
              <a:t>Volume-Driven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, not Ticket-Price-Driven. Executive management should focus on preserving these order counts.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814637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Protect Electronics Volume: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Maintain market share and inventory in the transaction count driver.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71862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Avoid Pricing Biases: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Do not adjust prices based on random sample averages across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129087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369A1"/>
                </a:solidFill>
                <a:latin typeface="Inter"/>
              </a:rPr>
              <a:t>Expand Data Scale: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Collect 10,000+ transaction rows to detect subtle localized trends with higher power.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38450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495675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52900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2475" y="485775"/>
            <a:ext cx="11401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Outfit"/>
              </a:rPr>
              <a:t>Recommendations for Leadership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85775"/>
            <a:ext cx="57150" cy="457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2228850"/>
            <a:ext cx="5153025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70732"/>
            <a:ext cx="7620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17834" y="2893528"/>
            <a:ext cx="5356329" cy="756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865"/>
              </a:lnSpc>
            </a:pPr>
            <a:r>
              <a:rPr lang="en-US" sz="5100" b="1" i="0" u="none" dirty="0" smtClean="0">
                <a:solidFill>
                  <a:srgbClr val="0F172A"/>
                </a:solidFill>
                <a:latin typeface="Outfit"/>
              </a:rPr>
              <a:t>&lt; </a:t>
            </a:r>
            <a:r>
              <a:rPr sz="5100" b="1" i="0" u="none" dirty="0" smtClean="0">
                <a:solidFill>
                  <a:srgbClr val="0F172A"/>
                </a:solidFill>
                <a:latin typeface="Outfit"/>
              </a:rPr>
              <a:t>Thank You</a:t>
            </a:r>
            <a:r>
              <a:rPr lang="en-US" sz="5100" b="1" i="0" u="none" dirty="0" smtClean="0">
                <a:solidFill>
                  <a:srgbClr val="0F172A"/>
                </a:solidFill>
                <a:latin typeface="Outfit"/>
              </a:rPr>
              <a:t> ! &gt;</a:t>
            </a:r>
            <a:endParaRPr sz="51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19750" y="4363342"/>
            <a:ext cx="9525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8587" y="4858642"/>
            <a:ext cx="43148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ApexPlanet Data Analytics Internship  |  Dhayanithi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476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Dhayanithi M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2026-08-18T06:08:02Z</dcterms:modified>
  <cp:category/>
</cp:coreProperties>
</file>