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Relationship Id="rId25" Type="http://schemas.openxmlformats.org/officeDocument/2006/relationships/image" Target="../media/image72.png"/><Relationship Id="rId26" Type="http://schemas.openxmlformats.org/officeDocument/2006/relationships/image" Target="../media/image73.png"/><Relationship Id="rId27" Type="http://schemas.openxmlformats.org/officeDocument/2006/relationships/image" Target="../media/image74.png"/><Relationship Id="rId28" Type="http://schemas.openxmlformats.org/officeDocument/2006/relationships/image" Target="../media/image75.png"/><Relationship Id="rId29" Type="http://schemas.openxmlformats.org/officeDocument/2006/relationships/image" Target="../media/image7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3970883"/>
            <a:ext cx="3724275" cy="742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3900" y="2144017"/>
            <a:ext cx="10934700" cy="152400"/>
          </a:xfrm>
          <a:prstGeom prst="rect">
            <a:avLst/>
          </a:prstGeom>
          <a:noFill/>
        </p:spPr>
        <p:txBody>
          <a:bodyPr wrap="square" lIns="164901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APEXPLANET DATA ANALYTICS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372617"/>
            <a:ext cx="11468100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0" sz="3900" i="0" u="none">
                <a:solidFill>
                  <a:srgbClr val="0F172A"/>
                </a:solidFill>
                <a:latin typeface="Plus Jakarta Sans ExtraBold"/>
              </a:rPr>
              <a:t>From Data to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094583"/>
            <a:ext cx="10934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0284C7"/>
                </a:solidFill>
                <a:latin typeface="Plus Jakarta Sans SemiBold"/>
              </a:rPr>
              <a:t>Internship Portfolio &amp; Learning Reflection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163067"/>
            <a:ext cx="164901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4218533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62" y="4361408"/>
            <a:ext cx="18097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239964"/>
            <a:ext cx="3230403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Dhayanithi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78089"/>
            <a:ext cx="30765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B.Tech — Artificial Intelligence &amp; Data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8677" y="6477000"/>
            <a:ext cx="294992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SemiBold"/>
              </a:rPr>
              <a:t>APEXPLANET INTERNSHIP • PORTFOLIO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781675"/>
            <a:ext cx="11125200" cy="619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570" y="2564606"/>
            <a:ext cx="10012858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924050"/>
            <a:ext cx="2002482" cy="1319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4042" y="1924050"/>
            <a:ext cx="2002482" cy="13192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4684" y="1924050"/>
            <a:ext cx="2002482" cy="13192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326" y="1924050"/>
            <a:ext cx="2002482" cy="13192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5968" y="1924050"/>
            <a:ext cx="2002482" cy="13192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1095375"/>
            <a:ext cx="11125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 structured, 5-phase approach applied throughout the internship to extract business value from raw datasets.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3767" y="6010275"/>
            <a:ext cx="194369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44066" y="21717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FFFFF"/>
                </a:solidFill>
                <a:latin typeface="Plus Jakarta Sans ExtraBold"/>
              </a:rPr>
              <a:t>TASK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360" y="2514600"/>
            <a:ext cx="174256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Data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2752725"/>
            <a:ext cx="1659582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Cleaning &amp; Wrangling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0421" y="2171700"/>
            <a:ext cx="409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FFFFF"/>
                </a:solidFill>
                <a:latin typeface="Plus Jakarta Sans ExtraBold"/>
              </a:rPr>
              <a:t>TASK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002" y="2514600"/>
            <a:ext cx="174256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Exploratory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5492" y="2752725"/>
            <a:ext cx="1659582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Trends &amp;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1063" y="2171700"/>
            <a:ext cx="409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FFFFF"/>
                </a:solidFill>
                <a:latin typeface="Plus Jakarta Sans ExtraBold"/>
              </a:rPr>
              <a:t>TASK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4644" y="2514600"/>
            <a:ext cx="174256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Deep-Dive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134" y="2752725"/>
            <a:ext cx="1659582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Power BI Visuals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6943" y="2171700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FFFFF"/>
                </a:solidFill>
                <a:latin typeface="Plus Jakarta Sans ExtraBold"/>
              </a:rPr>
              <a:t>TASK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287" y="2514600"/>
            <a:ext cx="174256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Statistical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6776" y="2752725"/>
            <a:ext cx="1659582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Hypothesis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2348" y="2171700"/>
            <a:ext cx="409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FFFFF"/>
                </a:solidFill>
                <a:latin typeface="Plus Jakarta Sans ExtraBold"/>
              </a:rPr>
              <a:t>TASK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5929" y="2514600"/>
            <a:ext cx="1742561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Portfolio Reflection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7418" y="2752725"/>
            <a:ext cx="1659582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Data Storytelling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End-to-End Analytics 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67467" y="6477000"/>
            <a:ext cx="49113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SemiBold"/>
              </a:rPr>
              <a:t>SLIDE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400" y="8667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095375"/>
            <a:ext cx="5410200" cy="5305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462587"/>
            <a:ext cx="5410200" cy="938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1104900"/>
            <a:ext cx="5391150" cy="5286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095375"/>
            <a:ext cx="962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4382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E293B"/>
                </a:solidFill>
                <a:latin typeface="Plus Jakarta Sans SemiBold"/>
              </a:rPr>
              <a:t>Build a reliable foundation for analytics through systematic data preparation and wrangling.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085975"/>
            <a:ext cx="568071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Key Deliverables: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5700712"/>
            <a:ext cx="5100637" cy="180975"/>
          </a:xfrm>
          <a:prstGeom prst="rect">
            <a:avLst/>
          </a:prstGeom>
          <a:noFill/>
        </p:spPr>
        <p:txBody>
          <a:bodyPr wrap="square" lIns="101947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Plus Jakarta Sans"/>
              </a:rPr>
              <a:t>Key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5919787"/>
            <a:ext cx="48577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15803D"/>
                </a:solidFill>
                <a:latin typeface="Plus Jakarta Sans"/>
              </a:rPr>
              <a:t>"Reliable analysis starts with reliable data."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152525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0100" y="2400300"/>
            <a:ext cx="5143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Dataset inspection and missing value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741265"/>
            <a:ext cx="5143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Type conversion and structured schema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082230"/>
            <a:ext cx="5143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Data wrangling operations &amp; anomaly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423195"/>
            <a:ext cx="5143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Preparing clean structured data for analysis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5729287"/>
            <a:ext cx="101947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Task 1 — Data 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467" y="6477000"/>
            <a:ext cx="49113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SemiBold"/>
              </a:rPr>
              <a:t>SLIDE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8667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419350"/>
            <a:ext cx="1238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760315"/>
            <a:ext cx="1238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101280"/>
            <a:ext cx="1238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442245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157174"/>
            <a:ext cx="4886325" cy="1181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425" y="1095375"/>
            <a:ext cx="5972175" cy="604524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425" y="7293024"/>
            <a:ext cx="5972175" cy="604524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095375"/>
            <a:ext cx="962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438275"/>
            <a:ext cx="4886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E293B"/>
                </a:solidFill>
                <a:latin typeface="Plus Jakarta Sans SemiBold"/>
              </a:rPr>
              <a:t>Discover underlying patterns, trends, relationships, and actionable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2395299"/>
            <a:ext cx="4550568" cy="0"/>
          </a:xfrm>
          <a:prstGeom prst="rect">
            <a:avLst/>
          </a:prstGeom>
          <a:noFill/>
        </p:spPr>
        <p:txBody>
          <a:bodyPr wrap="square" lIns="101947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Key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12614374"/>
            <a:ext cx="4333875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284C7"/>
                </a:solidFill>
                <a:latin typeface="Plus Jakarta Sans"/>
              </a:rPr>
              <a:t>"EDA transforms raw numbers into meaningful patterns."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5950" y="1104900"/>
            <a:ext cx="5953125" cy="602619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5950" y="7302549"/>
            <a:ext cx="5953125" cy="602619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152525"/>
            <a:ext cx="1238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100" y="2047875"/>
            <a:ext cx="4619625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Statistical summaries &amp; descriptive 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388840"/>
            <a:ext cx="4619625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Category &amp; product revenue breakdowns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2729805"/>
            <a:ext cx="4619625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Customer segmentation &amp; purchase 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070770"/>
            <a:ext cx="4619625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Sales trend analysis over time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12423874"/>
            <a:ext cx="101947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Task 2 — Exploratory 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7467" y="6477000"/>
            <a:ext cx="49113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SemiBold"/>
              </a:rPr>
              <a:t>SLIDE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8667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2066925"/>
            <a:ext cx="1238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2407890"/>
            <a:ext cx="1238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2748855"/>
            <a:ext cx="1238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089820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095375"/>
            <a:ext cx="5410200" cy="5305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248275"/>
            <a:ext cx="5410200" cy="1152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1104900"/>
            <a:ext cx="5391150" cy="5286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095375"/>
            <a:ext cx="166687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438275"/>
            <a:ext cx="568071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What I Built in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5486400"/>
            <a:ext cx="5100637" cy="180975"/>
          </a:xfrm>
          <a:prstGeom prst="rect">
            <a:avLst/>
          </a:prstGeom>
          <a:noFill/>
        </p:spPr>
        <p:txBody>
          <a:bodyPr wrap="square" lIns="101947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Plus Jakarta Sans"/>
              </a:rPr>
              <a:t>Key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5705475"/>
            <a:ext cx="4857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D97706"/>
                </a:solidFill>
                <a:latin typeface="Plus Jakarta Sans"/>
              </a:rPr>
              <a:t>"A dashboard should help users make decisions, not just display charts."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152525"/>
            <a:ext cx="12382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" y="1857375"/>
            <a:ext cx="5143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📊 KPI Analysis: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Real-time high-level metric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198340"/>
            <a:ext cx="5143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📈 Deep-Dive Analytics: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Dynamic filtering &amp; slices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539305"/>
            <a:ext cx="5143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🎯 Customer Insights: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Behavior &amp; cohort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880270"/>
            <a:ext cx="5143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📍 Performance Views: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Regional &amp; category breakdown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5514975"/>
            <a:ext cx="101947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Task 3 — Interactive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467" y="6477000"/>
            <a:ext cx="49113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SemiBold"/>
              </a:rPr>
              <a:t>SLIDE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8667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1876425"/>
            <a:ext cx="1238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217390"/>
            <a:ext cx="1238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558355"/>
            <a:ext cx="1238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899320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95375"/>
            <a:ext cx="11125200" cy="942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19362"/>
            <a:ext cx="5448300" cy="561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566094"/>
            <a:ext cx="5448300" cy="428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109019"/>
            <a:ext cx="5448300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233737"/>
            <a:ext cx="1714500" cy="923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0300" y="3233737"/>
            <a:ext cx="1714500" cy="923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3233737"/>
            <a:ext cx="1714500" cy="923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7725" y="1333500"/>
            <a:ext cx="1106138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BUSINESS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1543050"/>
            <a:ext cx="105346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"Do average sales values differ significantly across product categories?"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228850"/>
            <a:ext cx="5448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 SemiBold"/>
              </a:rPr>
              <a:t>Statistical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300" y="2275582"/>
            <a:ext cx="5448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 SemiBold"/>
              </a:rPr>
              <a:t>Decision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300" y="3794819"/>
            <a:ext cx="5448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b="1" sz="1050" i="0" u="none">
                <a:solidFill>
                  <a:srgbClr val="475569"/>
                </a:solidFill>
                <a:latin typeface="Plus Jakarta Sans"/>
              </a:rPr>
              <a:t>Conclusion: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Insufficient statistical evidence to conclude that average transaction values differ significantly across product categories.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525" y="2681287"/>
            <a:ext cx="19240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F172A"/>
                </a:solidFill>
                <a:latin typeface="Plus Jakarta Sans ExtraBold"/>
              </a:rPr>
              <a:t>Welch's ANOVA Test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1788" y="3299519"/>
            <a:ext cx="20002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5325" y="3395662"/>
            <a:ext cx="1390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1" sz="900" i="0" u="none">
                <a:solidFill>
                  <a:srgbClr val="64748B"/>
                </a:solidFill>
                <a:latin typeface="Plus Jakarta Sans"/>
              </a:rPr>
              <a:t>F-STATISTIC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3662362"/>
            <a:ext cx="13906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4F46E5"/>
                </a:solidFill>
                <a:latin typeface="JetBrains Mono"/>
              </a:rPr>
              <a:t>0.7842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2225" y="3395662"/>
            <a:ext cx="1390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1" sz="900" i="0" u="none">
                <a:solidFill>
                  <a:srgbClr val="64748B"/>
                </a:solidFill>
                <a:latin typeface="Plus Jakarta Sans"/>
              </a:rPr>
              <a:t>P-VALUE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2225" y="3662362"/>
            <a:ext cx="13906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4F46E5"/>
                </a:solidFill>
                <a:latin typeface="JetBrains Mono"/>
              </a:rPr>
              <a:t>0.5359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9125" y="3395662"/>
            <a:ext cx="1390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1" sz="900" i="0" u="none">
                <a:solidFill>
                  <a:srgbClr val="64748B"/>
                </a:solidFill>
                <a:latin typeface="Plus Jakarta Sans"/>
              </a:rPr>
              <a:t>ALPHA (α)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9125" y="3662362"/>
            <a:ext cx="13906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4F46E5"/>
                </a:solidFill>
                <a:latin typeface="JetBrains Mono"/>
              </a:rPr>
              <a:t>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Task 4 — Statistical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467" y="6477000"/>
            <a:ext cx="49113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SemiBold"/>
              </a:rPr>
              <a:t>SLIDE 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400" y="8667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91025"/>
            <a:ext cx="11125200" cy="11313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76375"/>
            <a:ext cx="5448300" cy="2724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476375"/>
            <a:ext cx="5448300" cy="2724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95662"/>
            <a:ext cx="5067300" cy="590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095375"/>
            <a:ext cx="1112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 SemiBold"/>
              </a:rPr>
              <a:t>Case Study: Revenue Leadership vs. Average Transaction Value in Electronics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629150"/>
            <a:ext cx="11101387" cy="171450"/>
          </a:xfrm>
          <a:prstGeom prst="rect">
            <a:avLst/>
          </a:prstGeom>
          <a:noFill/>
        </p:spPr>
        <p:txBody>
          <a:bodyPr wrap="square" lIns="130819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CORE BUSINESS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857750"/>
            <a:ext cx="105727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E0E7FF"/>
                </a:solidFill>
                <a:latin typeface="Plus Jakarta Sans"/>
              </a:rPr>
              <a:t>Electronics' revenue leadership is primarily driven by </a:t>
            </a:r>
            <a:r>
              <a:rPr b="1" sz="1200" i="0" u="none">
                <a:solidFill>
                  <a:srgbClr val="E0E7FF"/>
                </a:solidFill>
                <a:latin typeface="Plus Jakarta Sans"/>
              </a:rPr>
              <a:t>transaction volume</a:t>
            </a:r>
            <a:r>
              <a:rPr b="0" sz="1200" i="0" u="none">
                <a:solidFill>
                  <a:srgbClr val="E0E7FF"/>
                </a:solidFill>
                <a:latin typeface="Plus Jakarta Sans"/>
              </a:rPr>
              <a:t> rather than a statistically higher average order value. Strategy should focus on volume retention and basket size expansion.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657725"/>
            <a:ext cx="130819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704975"/>
            <a:ext cx="12096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2047875"/>
            <a:ext cx="532066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Electronics Category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704975"/>
            <a:ext cx="112395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2047875"/>
            <a:ext cx="532066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Average Transaction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438400"/>
            <a:ext cx="50673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354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2771775"/>
            <a:ext cx="50673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Total 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3348037"/>
            <a:ext cx="5067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16A34A"/>
                </a:solidFill>
                <a:latin typeface="Plus Jakarta Sans ExtraBold"/>
              </a:rPr>
              <a:t>₹50.78M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729037"/>
            <a:ext cx="50673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Highest Revenue 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38400"/>
            <a:ext cx="5067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284C7"/>
                </a:solidFill>
                <a:latin typeface="Plus Jakarta Sans ExtraBold"/>
              </a:rPr>
              <a:t>₹143,442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19400"/>
            <a:ext cx="50673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Mean Order Value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6112" y="3090862"/>
            <a:ext cx="14287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8725" y="3138487"/>
            <a:ext cx="17145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Key Business Insight: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992" y="6477000"/>
            <a:ext cx="48160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SemiBold"/>
              </a:rPr>
              <a:t>SLIDE 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400" y="8667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95375"/>
            <a:ext cx="5410200" cy="5305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095375"/>
            <a:ext cx="5410200" cy="530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9279" y="1362075"/>
            <a:ext cx="475450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Technical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6654" y="1362075"/>
            <a:ext cx="4804506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Analytical Core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1385887"/>
            <a:ext cx="234404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81175"/>
            <a:ext cx="857250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175" y="1781175"/>
            <a:ext cx="733425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0325" y="1781175"/>
            <a:ext cx="723900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9950" y="1781175"/>
            <a:ext cx="1419225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2124075"/>
            <a:ext cx="914400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38325" y="2124075"/>
            <a:ext cx="809625" cy="285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33675" y="2124075"/>
            <a:ext cx="628650" cy="285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48050" y="2124075"/>
            <a:ext cx="99060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4375" y="2124075"/>
            <a:ext cx="619125" cy="285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2466975"/>
            <a:ext cx="1085850" cy="285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09775" y="2466975"/>
            <a:ext cx="1181100" cy="2857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4625" y="1385887"/>
            <a:ext cx="186779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1781175"/>
            <a:ext cx="1219200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58125" y="1781175"/>
            <a:ext cx="1857375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01225" y="1781175"/>
            <a:ext cx="1381125" cy="285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2124075"/>
            <a:ext cx="1514475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53400" y="2124075"/>
            <a:ext cx="1790700" cy="2857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3200" y="2466975"/>
            <a:ext cx="1466850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05775" y="2466975"/>
            <a:ext cx="182880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20300" y="2466975"/>
            <a:ext cx="1333500" cy="285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3200" y="2809875"/>
            <a:ext cx="1419225" cy="2857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1550" y="1866900"/>
            <a:ext cx="11430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81400" y="2209800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43125" y="2552700"/>
            <a:ext cx="114300" cy="1333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Skills &amp; Analytical Competencies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67467" y="6477000"/>
            <a:ext cx="49113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SemiBold"/>
              </a:rPr>
              <a:t>SLIDE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400" y="8667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586412"/>
            <a:ext cx="11125200" cy="814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095375"/>
            <a:ext cx="11125200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802" y="1243012"/>
            <a:ext cx="76200" cy="114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3708" y="1243012"/>
            <a:ext cx="76200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1563" y="1243012"/>
            <a:ext cx="76200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869" y="1243012"/>
            <a:ext cx="76200" cy="114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749" y="1243012"/>
            <a:ext cx="76200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1695450"/>
            <a:ext cx="11658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Top 5 Internship Learnings: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291" y="5748337"/>
            <a:ext cx="1134141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6024562"/>
            <a:ext cx="108013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0" u="none">
                <a:solidFill>
                  <a:srgbClr val="4F46E5"/>
                </a:solidFill>
                <a:latin typeface="Plus Jakarta Sans"/>
              </a:rPr>
              <a:t>Dhayanithi M. • B.Tech Artificial Intelligence &amp;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1990725"/>
            <a:ext cx="10858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Data Quality First: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Data quality strictly bounds analysis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331690"/>
            <a:ext cx="10858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Visual Clarity: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Intuitive visualization turns complex numbers into obvious patterns.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2672655"/>
            <a:ext cx="10858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Statistical Rigor: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Testing distinguishes actual evidence from random observation.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013620"/>
            <a:ext cx="10858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Actionable Storytelling: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Insights are only valuable when conveyed as clear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354585"/>
            <a:ext cx="10858500" cy="226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Value Addition: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A great analyst answers "What should we do next?", not just "What happened?".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From Data to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7467" y="6477000"/>
            <a:ext cx="49113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SemiBold"/>
              </a:rPr>
              <a:t>SLIDE 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400" y="8667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009775"/>
            <a:ext cx="1238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350740"/>
            <a:ext cx="1238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691705"/>
            <a:ext cx="1238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032670"/>
            <a:ext cx="12382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373635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1095375"/>
            <a:ext cx="11125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1866900"/>
            <a:ext cx="11125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2638425"/>
            <a:ext cx="11125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18573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8573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26289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26289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34004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34004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3825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28775" y="1245393"/>
            <a:ext cx="100298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https://teachdatascience.com/post/pandas/reticulate_pandas_demo.png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8775" y="1478756"/>
            <a:ext cx="10029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teachdatascience.com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00977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28775" y="2016918"/>
            <a:ext cx="100298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https://savioglobal.com/wp-content/uploads/2024/05/Exploratory-Data-Analysis-Visualization-using-Matplotlib-and-Seaborn-with-Python-code.png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8775" y="2250281"/>
            <a:ext cx="10029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savioglobal.com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78130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28775" y="2788443"/>
            <a:ext cx="100298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https://www.mdpi.com/jtaer/jtaer-21-00142/article_deploy/html/images/jtaer-21-00142-g001-550.jpg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8775" y="3021806"/>
            <a:ext cx="10029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www.mdpi.com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55282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28775" y="3559968"/>
            <a:ext cx="100298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https://thedatalabs.org/wp-content/uploads/2023/05/image-1-696x385.png.webp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8775" y="3793331"/>
            <a:ext cx="10029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thedatalabs.org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F172A"/>
                </a:solidFill>
                <a:latin typeface="Plus Jakarta Sans ExtraBold"/>
              </a:rPr>
              <a:t>Image 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400" y="8667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